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fntdata" ContentType="application/x-fontdata"/>
  <Default Extension="svg" ContentType="image/svg+xml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 Light" panose="020B0604020202020204" charset="0"/>
      <p:regular r:id="rId13"/>
    </p:embeddedFont>
    <p:embeddedFont>
      <p:font typeface="Montserrat Medium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font" Target="/ppt/fonts/font1.fntdata" Id="rId13" /><Relationship Type="http://schemas.openxmlformats.org/officeDocument/2006/relationships/tableStyles" Target="/ppt/tableStyles.xml" Id="rId18" /><Relationship Type="http://schemas.openxmlformats.org/officeDocument/2006/relationships/slide" Target="/ppt/slides/slide2.xml" Id="rId3" /><Relationship Type="http://schemas.openxmlformats.org/officeDocument/2006/relationships/slide" Target="/ppt/slides/slide6.xml" Id="rId7" /><Relationship Type="http://schemas.openxmlformats.org/officeDocument/2006/relationships/notesMaster" Target="/ppt/notesMasters/notesMaster1.xml" Id="rId12" /><Relationship Type="http://schemas.openxmlformats.org/officeDocument/2006/relationships/theme" Target="/ppt/theme/theme1.xml" Id="rId17" /><Relationship Type="http://schemas.openxmlformats.org/officeDocument/2006/relationships/slide" Target="/ppt/slides/slide1.xml" Id="rId2" /><Relationship Type="http://schemas.openxmlformats.org/officeDocument/2006/relationships/viewProps" Target="/ppt/viewProps.xml" Id="rId16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slide" Target="/ppt/slides/slide4.xml" Id="rId5" /><Relationship Type="http://schemas.openxmlformats.org/officeDocument/2006/relationships/presProps" Target="/ppt/presProps.xml" Id="rId15" /><Relationship Type="http://schemas.openxmlformats.org/officeDocument/2006/relationships/slide" Target="/ppt/slides/slide9.xml" Id="rId10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font" Target="/ppt/fonts/font2.fntdata" Id="rId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149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2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png" Id="rId3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3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9.svg" Id="rId8" /><Relationship Type="http://schemas.openxmlformats.org/officeDocument/2006/relationships/image" Target="/ppt/media/image4.png" Id="rId3" /><Relationship Type="http://schemas.openxmlformats.org/officeDocument/2006/relationships/image" Target="/ppt/media/image8.png" Id="rId7" /><Relationship Type="http://schemas.openxmlformats.org/officeDocument/2006/relationships/image" Target="/ppt/media/image13.svg" Id="rId12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4.xml" Id="rId1" /><Relationship Type="http://schemas.openxmlformats.org/officeDocument/2006/relationships/image" Target="/ppt/media/image7.svg" Id="rId6" /><Relationship Type="http://schemas.openxmlformats.org/officeDocument/2006/relationships/image" Target="/ppt/media/image12.png" Id="rId11" /><Relationship Type="http://schemas.openxmlformats.org/officeDocument/2006/relationships/image" Target="/ppt/media/image6.png" Id="rId5" /><Relationship Type="http://schemas.openxmlformats.org/officeDocument/2006/relationships/image" Target="/ppt/media/image11.svg" Id="rId10" /><Relationship Type="http://schemas.openxmlformats.org/officeDocument/2006/relationships/image" Target="/ppt/media/image5.svg" Id="rId4" /><Relationship Type="http://schemas.openxmlformats.org/officeDocument/2006/relationships/image" Target="/ppt/media/image10.png" Id="rI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4.png" Id="rId3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5.xml" Id="rId1" /><Relationship Type="http://schemas.openxmlformats.org/officeDocument/2006/relationships/image" Target="/ppt/media/image15.pn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21.png" Id="rId8" /><Relationship Type="http://schemas.openxmlformats.org/officeDocument/2006/relationships/image" Target="/ppt/media/image26.svg" Id="rId13" /><Relationship Type="http://schemas.openxmlformats.org/officeDocument/2006/relationships/image" Target="/ppt/media/image16.png" Id="rId3" /><Relationship Type="http://schemas.openxmlformats.org/officeDocument/2006/relationships/image" Target="/ppt/media/image20.svg" Id="rId7" /><Relationship Type="http://schemas.openxmlformats.org/officeDocument/2006/relationships/image" Target="/ppt/media/image25.png" Id="rId12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6.xml" Id="rId1" /><Relationship Type="http://schemas.openxmlformats.org/officeDocument/2006/relationships/image" Target="/ppt/media/image19.png" Id="rId6" /><Relationship Type="http://schemas.openxmlformats.org/officeDocument/2006/relationships/image" Target="/ppt/media/image24.svg" Id="rId11" /><Relationship Type="http://schemas.openxmlformats.org/officeDocument/2006/relationships/image" Target="/ppt/media/image18.png" Id="rId5" /><Relationship Type="http://schemas.openxmlformats.org/officeDocument/2006/relationships/image" Target="/ppt/media/image23.png" Id="rId10" /><Relationship Type="http://schemas.openxmlformats.org/officeDocument/2006/relationships/image" Target="/ppt/media/image17.png" Id="rId4" /><Relationship Type="http://schemas.openxmlformats.org/officeDocument/2006/relationships/image" Target="/ppt/media/image22.svg" Id="rI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32.png" Id="rId8" /><Relationship Type="http://schemas.openxmlformats.org/officeDocument/2006/relationships/image" Target="/ppt/media/image37.png" Id="rId13" /><Relationship Type="http://schemas.openxmlformats.org/officeDocument/2006/relationships/image" Target="/ppt/media/image27.png" Id="rId3" /><Relationship Type="http://schemas.openxmlformats.org/officeDocument/2006/relationships/image" Target="/ppt/media/image31.png" Id="rId7" /><Relationship Type="http://schemas.openxmlformats.org/officeDocument/2006/relationships/image" Target="/ppt/media/image36.svg" Id="rId12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0.svg" Id="rId6" /><Relationship Type="http://schemas.openxmlformats.org/officeDocument/2006/relationships/image" Target="/ppt/media/image35.png" Id="rId11" /><Relationship Type="http://schemas.openxmlformats.org/officeDocument/2006/relationships/image" Target="/ppt/media/image29.png" Id="rId5" /><Relationship Type="http://schemas.openxmlformats.org/officeDocument/2006/relationships/image" Target="/ppt/media/image39.svg" Id="rId15" /><Relationship Type="http://schemas.openxmlformats.org/officeDocument/2006/relationships/image" Target="/ppt/media/image34.png" Id="rId10" /><Relationship Type="http://schemas.openxmlformats.org/officeDocument/2006/relationships/image" Target="/ppt/media/image28.png" Id="rId4" /><Relationship Type="http://schemas.openxmlformats.org/officeDocument/2006/relationships/image" Target="/ppt/media/image33.svg" Id="rId9" /><Relationship Type="http://schemas.openxmlformats.org/officeDocument/2006/relationships/image" Target="/ppt/media/image38.png" Id="rId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40.png" Id="rId3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8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Id2" /><Relationship Type="http://schemas.openxmlformats.org/officeDocument/2006/relationships/slideLayout" Target="/ppt/slideLayouts/slideLayout9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41.png" Id="rId3" /><Relationship Type="http://schemas.openxmlformats.org/officeDocument/2006/relationships/notesSlide" Target="/ppt/notesSlides/notesSlide9.xml" Id="rId2" /><Relationship Type="http://schemas.openxmlformats.org/officeDocument/2006/relationships/slideLayout" Target="/ppt/slideLayouts/slideLayout10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42.png" Id="rId3" /><Relationship Type="http://schemas.openxmlformats.org/officeDocument/2006/relationships/notesSlide" Target="/ppt/notesSlides/notesSlide10.xml" Id="rId2" /><Relationship Type="http://schemas.openxmlformats.org/officeDocument/2006/relationships/slideLayout" Target="/ppt/slideLayouts/slideLayout1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Optimising Inventory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Strategic Imperative for Healthcare Operations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541" y="408980"/>
            <a:ext cx="10506908" cy="464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Introduction to Pharmaceutical Inventory Management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0541" y="1230511"/>
            <a:ext cx="6613207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Pharmaceutical Inventory Management involves the meticulous control and oversight of all medicinal products within a healthcare setting, from acquisition to dispensing. It's a critical function ensuring patient safety and operational efficiency.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41" y="2111454"/>
            <a:ext cx="6613207" cy="6613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04271" y="1245394"/>
            <a:ext cx="185928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504271" y="1626513"/>
            <a:ext cx="661320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Patient Care:</a:t>
            </a: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Ensures life-saving medications are always available.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504271" y="1916430"/>
            <a:ext cx="661320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Operational Efficiency:</a:t>
            </a: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Streamlines workflows and reduces waste.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504271" y="2206347"/>
            <a:ext cx="661320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Financial Health:</a:t>
            </a: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Optimises capital tied up in stock and minimises losses.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04271" y="2592943"/>
            <a:ext cx="185928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Goals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04271" y="2974062"/>
            <a:ext cx="661320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Availability:</a:t>
            </a: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Right drug, right time, right patient.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04271" y="3263979"/>
            <a:ext cx="661320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Safety:</a:t>
            </a: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Prevents errors, manages recalls, and ensures product integrity.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04271" y="3553897"/>
            <a:ext cx="661320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Cost Efficiency:</a:t>
            </a: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Reduces holding costs, avoids stockouts, and minimises write-offs.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09600"/>
            <a:ext cx="13082826" cy="1381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Navigating the Complexities: Challenges in Pharmaceutical Inventory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3787" y="2433280"/>
            <a:ext cx="13082826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Managing pharmaceutical stock is fraught with unique hurdles that demand sophisticated solutions.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787" y="3035737"/>
            <a:ext cx="663178" cy="6631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13309" y="3222188"/>
            <a:ext cx="316087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Expiry &amp; Obsolescence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713309" y="3700224"/>
            <a:ext cx="3237190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Short shelf-lives lead to significant waste if not managed precisely.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844" y="3035737"/>
            <a:ext cx="663178" cy="6631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66366" y="3222188"/>
            <a:ext cx="3237190" cy="690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Regulatory Compliance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6166366" y="4045625"/>
            <a:ext cx="3237190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Strict adherence to storage conditions, traceability, and dispensing laws.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9900" y="3035737"/>
            <a:ext cx="663178" cy="6631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19423" y="3222188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Demand Variability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0619423" y="3700224"/>
            <a:ext cx="3237190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Unpredictable patient needs and seasonal illnesses create fluctuating demand.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787" y="5548908"/>
            <a:ext cx="663178" cy="6631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13309" y="5735360"/>
            <a:ext cx="3237190" cy="690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Stock-outs &amp; Shortages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1713309" y="6558796"/>
            <a:ext cx="3237190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Critical for patient outcomes; can lead to treatment delays or adverse events.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26844" y="5548908"/>
            <a:ext cx="663178" cy="66317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66366" y="573536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Storage Constraints</a:t>
            </a:r>
            <a:endParaRPr lang="en-US" sz="2150" dirty="0"/>
          </a:p>
        </p:txBody>
      </p:sp>
      <p:sp>
        <p:nvSpPr>
          <p:cNvPr id="18" name="Text 11"/>
          <p:cNvSpPr/>
          <p:nvPr/>
        </p:nvSpPr>
        <p:spPr>
          <a:xfrm>
            <a:off x="6166366" y="6213396"/>
            <a:ext cx="3237190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Specific temperature, light, and security requirements limit storage options.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615" y="728543"/>
            <a:ext cx="1317117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Performance Indicators (KPIs): Driving Efficiency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29615" y="2448520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Measuring success in pharmaceutical inventory management through crucial metrics.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9615" y="3094673"/>
            <a:ext cx="3127415" cy="39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A. Efficiency KPIs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729615" y="3798213"/>
            <a:ext cx="6481286" cy="1913930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5" y="3798213"/>
            <a:ext cx="91440" cy="19139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9533" y="4029551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Inventory Turnover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029533" y="4480322"/>
            <a:ext cx="5950029" cy="100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Measures how quickly stock is sold or used. </a:t>
            </a: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Formula: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Cost of Goods Sold / Average Inventory. </a:t>
            </a: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Indicates efficiency in stock movement; higher is generally better.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9380" y="3798213"/>
            <a:ext cx="6481405" cy="1913930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520" y="3798213"/>
            <a:ext cx="91440" cy="19139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19298" y="4029551"/>
            <a:ext cx="4389834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Days of Inventory on Hand (DOH)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7719298" y="4480322"/>
            <a:ext cx="5950148" cy="100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Average number of days inventory is held. </a:t>
            </a: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Formula: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(Average Inventory / Cost of Goods Sold) * 365. </a:t>
            </a: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Identifies overstocking and potential expiry risks.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29615" y="5920621"/>
            <a:ext cx="6481286" cy="1580436"/>
          </a:xfrm>
          <a:prstGeom prst="roundRect">
            <a:avLst>
              <a:gd name="adj" fmla="val 6943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55" y="5920621"/>
            <a:ext cx="91440" cy="15804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9533" y="6151959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Reorder Cycle Time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1029533" y="6602730"/>
            <a:ext cx="5950029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Time between placing an order and receiving it. </a:t>
            </a: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Shorter cycles improve responsiveness to demand.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419380" y="5920621"/>
            <a:ext cx="6481405" cy="1580436"/>
          </a:xfrm>
          <a:prstGeom prst="roundRect">
            <a:avLst>
              <a:gd name="adj" fmla="val 6943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520" y="5920621"/>
            <a:ext cx="91440" cy="15804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19298" y="6151959"/>
            <a:ext cx="320301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Procurement Lead Time</a:t>
            </a:r>
            <a:endParaRPr lang="en-US" sz="2050" dirty="0"/>
          </a:p>
        </p:txBody>
      </p:sp>
      <p:sp>
        <p:nvSpPr>
          <p:cNvPr id="20" name="Text 14"/>
          <p:cNvSpPr/>
          <p:nvPr/>
        </p:nvSpPr>
        <p:spPr>
          <a:xfrm>
            <a:off x="7719298" y="6602730"/>
            <a:ext cx="5950148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Total time from order initiation to stock availability. </a:t>
            </a: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Impacts safety stock levels and stockout risk.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8602" y="806053"/>
            <a:ext cx="7321272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Ensuring Supply: Availability &amp; Service KPIs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958602" y="1430179"/>
            <a:ext cx="8199596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Critical metrics for guaranteeing medication access and patient satisfaction.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958602" y="2000131"/>
            <a:ext cx="8199596" cy="995005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02" y="1984891"/>
            <a:ext cx="8199596" cy="609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994" y="1797725"/>
            <a:ext cx="404813" cy="40481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77437" y="1919168"/>
            <a:ext cx="161925" cy="1619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108740" y="2337435"/>
            <a:ext cx="1878806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Stock Availability Rate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6108740" y="2629257"/>
            <a:ext cx="7899321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Percentage of items immediately available when requested. </a:t>
            </a: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Direct impact on patient treatment continuity.</a:t>
            </a:r>
            <a:endParaRPr lang="en-US" sz="1050" dirty="0"/>
          </a:p>
        </p:txBody>
      </p:sp>
      <p:sp>
        <p:nvSpPr>
          <p:cNvPr id="11" name="Shape 5"/>
          <p:cNvSpPr/>
          <p:nvPr/>
        </p:nvSpPr>
        <p:spPr>
          <a:xfrm>
            <a:off x="5958602" y="3332440"/>
            <a:ext cx="8199596" cy="995005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/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02" y="3317200"/>
            <a:ext cx="8199596" cy="6096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994" y="3130034"/>
            <a:ext cx="404813" cy="404813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7437" y="3251478"/>
            <a:ext cx="161925" cy="1619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108740" y="3669744"/>
            <a:ext cx="1686758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Service Level</a:t>
            </a:r>
            <a:endParaRPr lang="en-US" sz="1300" dirty="0"/>
          </a:p>
        </p:txBody>
      </p:sp>
      <p:sp>
        <p:nvSpPr>
          <p:cNvPr id="16" name="Text 7"/>
          <p:cNvSpPr/>
          <p:nvPr/>
        </p:nvSpPr>
        <p:spPr>
          <a:xfrm>
            <a:off x="6108740" y="3961567"/>
            <a:ext cx="7899321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Probability of meeting demand from existing stock. </a:t>
            </a: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Balances inventory costs with customer satisfaction.</a:t>
            </a:r>
            <a:endParaRPr lang="en-US" sz="1050" dirty="0"/>
          </a:p>
        </p:txBody>
      </p:sp>
      <p:sp>
        <p:nvSpPr>
          <p:cNvPr id="17" name="Shape 8"/>
          <p:cNvSpPr/>
          <p:nvPr/>
        </p:nvSpPr>
        <p:spPr>
          <a:xfrm>
            <a:off x="5958602" y="4664750"/>
            <a:ext cx="8199596" cy="121074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/>
        </p:spPr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02" y="4649510"/>
            <a:ext cx="8199596" cy="6096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994" y="4462343"/>
            <a:ext cx="404813" cy="404813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77437" y="4583787"/>
            <a:ext cx="161925" cy="161925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108740" y="5002054"/>
            <a:ext cx="172295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Stockout Frequency</a:t>
            </a:r>
            <a:endParaRPr lang="en-US" sz="1300" dirty="0"/>
          </a:p>
        </p:txBody>
      </p:sp>
      <p:sp>
        <p:nvSpPr>
          <p:cNvPr id="22" name="Text 10"/>
          <p:cNvSpPr/>
          <p:nvPr/>
        </p:nvSpPr>
        <p:spPr>
          <a:xfrm>
            <a:off x="6108740" y="5293876"/>
            <a:ext cx="7899321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Number of times a particular item goes out of stock. </a:t>
            </a: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High frequency indicates poor planning or unreliable supply.</a:t>
            </a:r>
            <a:endParaRPr lang="en-US" sz="1050" dirty="0"/>
          </a:p>
        </p:txBody>
      </p:sp>
      <p:sp>
        <p:nvSpPr>
          <p:cNvPr id="23" name="Shape 11"/>
          <p:cNvSpPr/>
          <p:nvPr/>
        </p:nvSpPr>
        <p:spPr>
          <a:xfrm>
            <a:off x="5958602" y="6212800"/>
            <a:ext cx="8199596" cy="121074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/>
        </p:spPr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02" y="6197560"/>
            <a:ext cx="8199596" cy="60960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994" y="6010394"/>
            <a:ext cx="404813" cy="404813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77437" y="6131838"/>
            <a:ext cx="161925" cy="161925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6108740" y="6550104"/>
            <a:ext cx="1686758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Fill Rate</a:t>
            </a:r>
            <a:endParaRPr lang="en-US" sz="1300" dirty="0"/>
          </a:p>
        </p:txBody>
      </p:sp>
      <p:sp>
        <p:nvSpPr>
          <p:cNvPr id="28" name="Text 13"/>
          <p:cNvSpPr/>
          <p:nvPr/>
        </p:nvSpPr>
        <p:spPr>
          <a:xfrm>
            <a:off x="6108740" y="6841927"/>
            <a:ext cx="7899321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Percentage of orders filled completely and on time. </a:t>
            </a:r>
            <a:r>
              <a:rPr lang="en-US" sz="10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Reflects supply chain reliability and order fulfilment capability.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2052" y="561499"/>
            <a:ext cx="8232696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Forecasting the Future: Accuracy &amp; Forecasting KPIs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942052" y="1570434"/>
            <a:ext cx="823269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Precision in predicting demand and maintaining accurate records prevents waste and ensures supply.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942052" y="1925241"/>
            <a:ext cx="8232696" cy="1285994"/>
          </a:xfrm>
          <a:prstGeom prst="roundRect">
            <a:avLst>
              <a:gd name="adj" fmla="val 911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808" y="2062996"/>
            <a:ext cx="390525" cy="39052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7202" y="2170271"/>
            <a:ext cx="175736" cy="1757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9808" y="2583656"/>
            <a:ext cx="1627465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Forecast Accuracy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079808" y="2865120"/>
            <a:ext cx="7957185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Measures how close forecasts are to actual demand. </a:t>
            </a:r>
            <a:r>
              <a:rPr lang="en-US" sz="10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Directly impacts stock levels and ordering decisions.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942052" y="3341370"/>
            <a:ext cx="8232696" cy="1285994"/>
          </a:xfrm>
          <a:prstGeom prst="roundRect">
            <a:avLst>
              <a:gd name="adj" fmla="val 911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9808" y="3479125"/>
            <a:ext cx="390525" cy="39052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7202" y="3586401"/>
            <a:ext cx="175736" cy="17573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79808" y="3999786"/>
            <a:ext cx="2653546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Inventory Record Accuracy (IRA)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6079808" y="4281249"/>
            <a:ext cx="7957185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Percentage of inventory records matching physical count. </a:t>
            </a:r>
            <a:r>
              <a:rPr lang="en-US" sz="10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Essential for reliable planning and order placement.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5942052" y="4757499"/>
            <a:ext cx="8232696" cy="1285994"/>
          </a:xfrm>
          <a:prstGeom prst="roundRect">
            <a:avLst>
              <a:gd name="adj" fmla="val 911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9808" y="4895255"/>
            <a:ext cx="390525" cy="390525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7202" y="5002530"/>
            <a:ext cx="175736" cy="17573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079808" y="5415915"/>
            <a:ext cx="1627465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Demand Variance</a:t>
            </a:r>
            <a:endParaRPr lang="en-US" sz="1250" dirty="0"/>
          </a:p>
        </p:txBody>
      </p:sp>
      <p:sp>
        <p:nvSpPr>
          <p:cNvPr id="19" name="Text 10"/>
          <p:cNvSpPr/>
          <p:nvPr/>
        </p:nvSpPr>
        <p:spPr>
          <a:xfrm>
            <a:off x="6079808" y="5697379"/>
            <a:ext cx="7957185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Degree of fluctuation in demand for an item. </a:t>
            </a:r>
            <a:r>
              <a:rPr lang="en-US" sz="10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Helps in setting appropriate safety stock levels.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5942052" y="6173629"/>
            <a:ext cx="8232696" cy="1494353"/>
          </a:xfrm>
          <a:prstGeom prst="roundRect">
            <a:avLst>
              <a:gd name="adj" fmla="val 7841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9808" y="6311384"/>
            <a:ext cx="390525" cy="390525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87202" y="6418659"/>
            <a:ext cx="175736" cy="17573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079808" y="6832044"/>
            <a:ext cx="1785699" cy="20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Cycle Count Accuracy</a:t>
            </a:r>
            <a:endParaRPr lang="en-US" sz="1250" dirty="0"/>
          </a:p>
        </p:txBody>
      </p:sp>
      <p:sp>
        <p:nvSpPr>
          <p:cNvPr id="24" name="Text 13"/>
          <p:cNvSpPr/>
          <p:nvPr/>
        </p:nvSpPr>
        <p:spPr>
          <a:xfrm>
            <a:off x="6079808" y="7113508"/>
            <a:ext cx="7957185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Accuracy of inventory counts performed regularly on small sections of inventory. </a:t>
            </a:r>
            <a:r>
              <a:rPr lang="en-US" sz="10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Improves overall IRA without full physical counts.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335280"/>
            <a:ext cx="653617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Streamlining Operations: Operational KPIs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6720" y="960120"/>
            <a:ext cx="13776960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Optimising the physical movement and processing of pharmaceutical goods.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26720" y="1414224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Receiving 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1726644"/>
            <a:ext cx="6739771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Time from arrival to stock put-away. </a:t>
            </a: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Reduces delays and makes stock available faster.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20" y="2043589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Put-away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6720" y="2356009"/>
            <a:ext cx="6739771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Time taken to move received goods to their storage location. </a:t>
            </a: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Impacts warehouse efficiency and storage capacity.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6720" y="2867978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Picking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6720" y="3180398"/>
            <a:ext cx="6739771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Percentage of orders picked correctly. </a:t>
            </a: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Crucial for patient safety and avoiding dispensing errors.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71529" y="1414224"/>
            <a:ext cx="176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Order Processing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1529" y="1726644"/>
            <a:ext cx="6739771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Time from order receipt to dispatch. </a:t>
            </a: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Influences delivery speed and customer satisfaction.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71529" y="2043589"/>
            <a:ext cx="18769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Expiry Management KPI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1529" y="2356009"/>
            <a:ext cx="6739771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Percentage of items nearing expiry within a defined timeframe. </a:t>
            </a:r>
            <a:r>
              <a:rPr lang="en-US" sz="9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9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Proactive management to minimise write-offs.</a:t>
            </a:r>
            <a:endParaRPr lang="en-US" sz="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529" y="2883218"/>
            <a:ext cx="6739771" cy="67397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09005"/>
            <a:ext cx="8894802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Bottom Line: Financial KPIs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5216" y="1744028"/>
            <a:ext cx="130799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Assessing the economic impact of inventory decisions on the organisation's financial health.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5216" y="2347436"/>
            <a:ext cx="4212312" cy="3054668"/>
          </a:xfrm>
          <a:prstGeom prst="roundRect">
            <a:avLst>
              <a:gd name="adj" fmla="val 17403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4292" y="2576513"/>
            <a:ext cx="3690937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Cost of Goods Sold (COGS)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004292" y="3055382"/>
            <a:ext cx="375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Direct costs attributable to the production of goods sold. </a:t>
            </a:r>
            <a:r>
              <a:rPr lang="en-US" sz="17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Directly impacts profitability and pricing strategies.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8984" y="2347436"/>
            <a:ext cx="4212312" cy="3054668"/>
          </a:xfrm>
          <a:prstGeom prst="roundRect">
            <a:avLst>
              <a:gd name="adj" fmla="val 17403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38061" y="2576513"/>
            <a:ext cx="3754160" cy="691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Gross Margin Return on Investment (GMROI)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5438061" y="3401378"/>
            <a:ext cx="375416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Profitability of inventory. </a:t>
            </a:r>
            <a:r>
              <a:rPr lang="en-US" sz="17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Formula: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Gross Margin / Average Inventory Cost. </a:t>
            </a:r>
            <a:r>
              <a:rPr lang="en-US" sz="17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Evaluates how effectively inventory is generating profit.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42753" y="2347436"/>
            <a:ext cx="4212431" cy="3054668"/>
          </a:xfrm>
          <a:prstGeom prst="roundRect">
            <a:avLst>
              <a:gd name="adj" fmla="val 17403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1829" y="2576513"/>
            <a:ext cx="3647480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Carrying Cost of Inventory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9871829" y="3055382"/>
            <a:ext cx="3754279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Costs associated with holding inventory (storage, insurance, obsolescence). </a:t>
            </a:r>
            <a:r>
              <a:rPr lang="en-US" sz="17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High costs reduce profitability and tie up capital.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5216" y="5623560"/>
            <a:ext cx="6429256" cy="2000012"/>
          </a:xfrm>
          <a:prstGeom prst="roundRect">
            <a:avLst>
              <a:gd name="adj" fmla="val 2657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4292" y="585263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Write-off Value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004292" y="6331506"/>
            <a:ext cx="597110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Value of expired, damaged, or unsaleable stock. </a:t>
            </a:r>
            <a:r>
              <a:rPr lang="en-US" sz="17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Represents direct financial losses due to poor inventory control.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5928" y="5623560"/>
            <a:ext cx="6429256" cy="2000012"/>
          </a:xfrm>
          <a:prstGeom prst="roundRect">
            <a:avLst>
              <a:gd name="adj" fmla="val 2657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5004" y="585263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Cost-to-Serve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7655004" y="6331506"/>
            <a:ext cx="597110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Total cost incurred to fulfil a customer order. </a:t>
            </a:r>
            <a:r>
              <a:rPr lang="en-US" sz="17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it matters: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Identifies inefficiencies in the supply chain from order to delivery.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228" y="388263"/>
            <a:ext cx="5465445" cy="441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Summary: A Holistic Approach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4228" y="1111925"/>
            <a:ext cx="13641943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Effective pharmaceutical inventory management requires a comprehensive strategy encompassing multiple facets.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28" y="1496616"/>
            <a:ext cx="13641943" cy="7688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6891" y="2162774"/>
            <a:ext cx="2526681" cy="377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Efficiency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16891" y="2648287"/>
            <a:ext cx="2526681" cy="604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Streamline stock workflows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299931" y="2162774"/>
            <a:ext cx="2513242" cy="75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Availability &amp; Service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299931" y="3026281"/>
            <a:ext cx="2513242" cy="604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Maintain product readiness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1180" y="7024620"/>
            <a:ext cx="2432603" cy="75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Accuracy &amp; Forecasting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1180" y="7888127"/>
            <a:ext cx="2432603" cy="604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Predict demand precisely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219292" y="7402614"/>
            <a:ext cx="2593881" cy="377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Financial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219292" y="7888127"/>
            <a:ext cx="2593881" cy="604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Control costs and value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4228" y="9343549"/>
            <a:ext cx="13641943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By continuously monitoring and optimising these diverse KPI categories, healthcare organisations can achieve superior patient care outcomes and robust financial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217" y="465296"/>
            <a:ext cx="6101358" cy="528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Conclusion &amp; Key Takeaways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2217" y="1400056"/>
            <a:ext cx="6516648" cy="811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Mastering pharmaceutical inventory management is not merely a logistical task but a cornerstone of patient safety, operational excellence, and financial stability within healthcare. Continuous improvement driven by robust KPI analysis is essential.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2217" y="2381131"/>
            <a:ext cx="4783217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Recommendations for Better Control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92217" y="2867620"/>
            <a:ext cx="6516648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 Advanced Analytics: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Utilise AI/ML for demand forecasting.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2217" y="3197423"/>
            <a:ext cx="6516648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Automate Workflows: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Reduce manual errors and increase speed.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2217" y="3527227"/>
            <a:ext cx="6516648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Regular Audits &amp; Cycle Counting: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Maintain high Inventory Record Accuracy.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2217" y="3857030"/>
            <a:ext cx="6516648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Collaborate with Suppliers: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Improve lead times and supply reliability.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2217" y="4186833"/>
            <a:ext cx="6516648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Staff Training:</a:t>
            </a: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Ensure adherence to best practices and regulatory compliance.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155" y="1438037"/>
            <a:ext cx="6516648" cy="6516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82878" y="8144947"/>
            <a:ext cx="6262926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"Efficient inventory management transforms pharmacy operations from a cost centre into a strategic asset."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29155" y="8144947"/>
            <a:ext cx="22860" cy="541258"/>
          </a:xfrm>
          <a:prstGeom prst="rect">
            <a:avLst/>
          </a:prstGeom>
          <a:solidFill>
            <a:srgbClr val="C6C9D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1066</Words>
  <Application>Microsoft Office PowerPoint</Application>
  <PresentationFormat>Custom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 Medium</vt:lpstr>
      <vt:lpstr>Inter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dina.mag192@hotmail.com</cp:lastModifiedBy>
  <cp:revision>2</cp:revision>
  <dcterms:created xsi:type="dcterms:W3CDTF">2025-11-28T11:43:27Z</dcterms:created>
  <dcterms:modified xsi:type="dcterms:W3CDTF">2025-11-30T12:59:54Z</dcterms:modified>
</cp:coreProperties>
</file>